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26C3-9A70-DDAC-0793-A7FECC00F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B9D11-6652-D43D-9295-72921A089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F6015-6669-464B-BF3A-3B4D090B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4CDC7-452B-55F9-5DA7-D8BFDF2FA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5FE77-30B0-3DA9-47F4-74AF93F4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CEB7E-75FD-4351-E952-8D515AA3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0F9A3-2340-53D6-191C-3B8EA6609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72F67-6F7B-0FCD-7404-B400CC4E7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87E89-24A5-69A4-BFA7-0FE362438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80AA1-ADD0-4BBD-0E81-DFBEFEEAD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9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F8A5C-D6C3-296E-1EC5-0EC232D07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1254B-3C87-BBF4-5C72-AF33D3911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1DDEC-156F-F436-0EB2-A07043CA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3208F-3C1A-5215-1BE7-0D0055A6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5DE6E-D2FE-A380-2A97-EC595D3F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35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A95C-FB3D-8086-4F0B-D9BEA2E91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2CDD5-27CA-1EE9-3B54-FEC974056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4F839-A1CB-811D-BD11-BF661AB5E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12B24-E610-4D2B-F70D-756557EE5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FE814-1F40-39DC-45C8-90C2A0093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66C0B-A497-1372-2A1D-6F392FA4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30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3B94F-C438-3B73-9C8C-3C45E123C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80E64-B22C-F36B-B896-5084805A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EDF62-FFEE-BC99-3C10-42DC1397D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999FFA-3536-01E5-B243-943EC2444C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7DBE78-ACF6-1F16-FDD6-8A906DB03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9BCDC2-7460-94FA-F3E4-E6936FB0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B7EFC7-AA97-BDA4-D59D-4112639B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A1162C-00BA-C422-1689-03E357429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8A01D-8D2B-A642-6470-A568CC984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652CD7-78B5-6BC1-7CCE-24CE4156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97E051-D287-EDE9-9DB8-A172556B1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4B78A-7E29-B942-BBBC-C7641115A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ACF59F-3DEE-7095-9FA6-A6F6229D9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905A0-CC69-1180-ED0B-94E7FE5B6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3677E-9C47-F6A4-92F1-82AF0F7E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529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F3570-E520-BDF8-845E-51BCD1E8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41D2-75A5-07B2-B2D7-23AD3E9AB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47DCF-53C9-BD91-8D9C-C289CB01B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217FD-614B-3473-C03A-81C5B630F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1ED16-4923-4A9F-411E-4E4E67187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F3B6D-7FF5-2870-EC46-40D58D34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0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A7AE-9844-B8D6-FF46-7ABB6D2A1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51DE25-0F04-5475-12FE-1528500B1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10FA5-4373-ECDF-667B-92EBB5022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362D4-CBBE-0774-41DE-CCF23C267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4BE66-078B-7184-27E2-40BEA8F3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A821C-6354-0741-ED1B-5C5BD431C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72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5A0E8-C577-7DE1-4F6D-490824D06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0846C-DC40-7619-77ED-C4A68319F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2207C-96BA-F52A-8971-9B4FFAF09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30D94-B06D-8450-EE0A-6F77913F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75E9F-E34D-361C-9FE1-932761916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88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1DE5E9-A3C5-DB43-B7DF-9E0B4D605B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AA1D1-87DE-4FE2-005B-73D835A4B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0E4EA-4244-8BA1-478A-DD2A943C2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2621-1463-47D6-A797-1A9267B424FA}" type="datetimeFigureOut">
              <a:rPr lang="en-US" smtClean="0"/>
              <a:t>25/09/28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B4B55-43CF-4B7F-95A0-CF788A8C0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0844C-1D90-1468-696F-5187EE29E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20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C1A486-0D05-117D-25BD-F15F028F2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09050-3292-D903-C25E-A68BEF817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C1D43-A666-371A-1B8F-BD089A3AB9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AD2621-1463-47D6-A797-1A9267B424FA}" type="datetimeFigureOut">
              <a:rPr lang="en-US" smtClean="0"/>
              <a:t>25/09/28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5C1A-DCDB-89C1-439E-B0913DBA2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9173D-178B-3E39-1E04-CDF78420C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B945E2-F7F8-4A7D-9950-A10C63F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6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0684C-60D9-358D-B2B3-56D6084FC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6" y="1536700"/>
            <a:ext cx="3814225" cy="3784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1052C1-66CE-6E5B-8FA2-59C51D44F63D}"/>
              </a:ext>
            </a:extLst>
          </p:cNvPr>
          <p:cNvSpPr txBox="1"/>
          <p:nvPr/>
        </p:nvSpPr>
        <p:spPr>
          <a:xfrm>
            <a:off x="5486400" y="2070100"/>
            <a:ext cx="20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Δ</a:t>
            </a:r>
            <a:r>
              <a:rPr lang="de-CH" dirty="0"/>
              <a:t>X = (</a:t>
            </a:r>
            <a:r>
              <a:rPr lang="de-CH" dirty="0" err="1"/>
              <a:t>X</a:t>
            </a:r>
            <a:r>
              <a:rPr lang="de-CH" baseline="-25000" dirty="0" err="1"/>
              <a:t>init</a:t>
            </a:r>
            <a:r>
              <a:rPr lang="de-CH" dirty="0" err="1"/>
              <a:t>+X</a:t>
            </a:r>
            <a:r>
              <a:rPr lang="de-CH" baseline="-25000" dirty="0" err="1"/>
              <a:t>fin</a:t>
            </a:r>
            <a:r>
              <a:rPr lang="de-CH" dirty="0"/>
              <a:t>) - X</a:t>
            </a:r>
            <a:r>
              <a:rPr lang="de-CH" baseline="-25000" dirty="0"/>
              <a:t>TS</a:t>
            </a:r>
            <a:endParaRPr lang="en-US" baseline="-2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38FFD-E4FA-60CB-D3EC-D7BBC5684C66}"/>
              </a:ext>
            </a:extLst>
          </p:cNvPr>
          <p:cNvSpPr txBox="1"/>
          <p:nvPr/>
        </p:nvSpPr>
        <p:spPr>
          <a:xfrm>
            <a:off x="5486400" y="3244334"/>
            <a:ext cx="670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Phonon </a:t>
            </a:r>
            <a:r>
              <a:rPr lang="de-CH" dirty="0" err="1"/>
              <a:t>mode</a:t>
            </a:r>
            <a:r>
              <a:rPr lang="de-CH" dirty="0"/>
              <a:t> </a:t>
            </a:r>
            <a:r>
              <a:rPr lang="de-CH" dirty="0" err="1"/>
              <a:t>eigenvector</a:t>
            </a:r>
            <a:r>
              <a:rPr lang="de-CH" dirty="0"/>
              <a:t> – </a:t>
            </a:r>
            <a:r>
              <a:rPr lang="de-CH" dirty="0" err="1"/>
              <a:t>matrix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complex</a:t>
            </a:r>
            <a:r>
              <a:rPr lang="de-CH" dirty="0"/>
              <a:t> </a:t>
            </a:r>
            <a:r>
              <a:rPr lang="de-CH" dirty="0" err="1"/>
              <a:t>numbers</a:t>
            </a:r>
            <a:r>
              <a:rPr lang="de-CH" dirty="0"/>
              <a:t> Nx3</a:t>
            </a:r>
          </a:p>
          <a:p>
            <a:r>
              <a:rPr lang="de-CH" dirty="0" err="1"/>
              <a:t>Multiply</a:t>
            </a:r>
            <a:r>
              <a:rPr lang="de-CH" dirty="0"/>
              <a:t> </a:t>
            </a:r>
            <a:r>
              <a:rPr lang="de-CH" dirty="0" err="1"/>
              <a:t>phonon</a:t>
            </a:r>
            <a:r>
              <a:rPr lang="de-CH" dirty="0"/>
              <a:t> </a:t>
            </a:r>
            <a:r>
              <a:rPr lang="de-CH" dirty="0" err="1"/>
              <a:t>eigenvector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1/</a:t>
            </a:r>
            <a:r>
              <a:rPr lang="de-CH" dirty="0" err="1"/>
              <a:t>sqrt</a:t>
            </a:r>
            <a:r>
              <a:rPr lang="de-CH" dirty="0"/>
              <a:t>(</a:t>
            </a:r>
            <a:r>
              <a:rPr lang="de-CH" dirty="0" err="1"/>
              <a:t>masses</a:t>
            </a:r>
            <a:r>
              <a:rPr lang="de-CH" dirty="0"/>
              <a:t>) </a:t>
            </a:r>
            <a:r>
              <a:rPr lang="de-CH" dirty="0" err="1"/>
              <a:t>to</a:t>
            </a:r>
            <a:r>
              <a:rPr lang="de-CH" dirty="0"/>
              <a:t> find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actual</a:t>
            </a:r>
            <a:r>
              <a:rPr lang="de-CH" dirty="0"/>
              <a:t> </a:t>
            </a:r>
            <a:r>
              <a:rPr lang="de-CH" dirty="0" err="1"/>
              <a:t>displacements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atoms</a:t>
            </a:r>
            <a:r>
              <a:rPr lang="de-CH" dirty="0"/>
              <a:t>;</a:t>
            </a:r>
          </a:p>
          <a:p>
            <a:r>
              <a:rPr lang="de-CH" dirty="0"/>
              <a:t>Find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length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projection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el-GR" dirty="0"/>
              <a:t>Δ</a:t>
            </a:r>
            <a:r>
              <a:rPr lang="de-CH" dirty="0"/>
              <a:t>X </a:t>
            </a:r>
            <a:r>
              <a:rPr lang="de-CH" dirty="0" err="1"/>
              <a:t>onto</a:t>
            </a:r>
            <a:r>
              <a:rPr lang="de-CH" dirty="0"/>
              <a:t> all </a:t>
            </a:r>
            <a:r>
              <a:rPr lang="de-CH" dirty="0" err="1"/>
              <a:t>phonon</a:t>
            </a:r>
            <a:r>
              <a:rPr lang="de-CH" dirty="0"/>
              <a:t> </a:t>
            </a:r>
            <a:r>
              <a:rPr lang="de-CH" dirty="0" err="1"/>
              <a:t>modes</a:t>
            </a:r>
            <a:r>
              <a:rPr lang="de-CH" dirty="0"/>
              <a:t>, </a:t>
            </a:r>
            <a:r>
              <a:rPr lang="de-CH" dirty="0" err="1"/>
              <a:t>plot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squared</a:t>
            </a:r>
            <a:r>
              <a:rPr lang="de-CH" dirty="0"/>
              <a:t> </a:t>
            </a:r>
            <a:r>
              <a:rPr lang="de-CH" dirty="0" err="1"/>
              <a:t>projection</a:t>
            </a:r>
            <a:r>
              <a:rPr lang="de-CH" dirty="0"/>
              <a:t> </a:t>
            </a:r>
            <a:r>
              <a:rPr lang="de-CH" dirty="0" err="1"/>
              <a:t>length</a:t>
            </a:r>
            <a:r>
              <a:rPr lang="de-CH" dirty="0"/>
              <a:t> (</a:t>
            </a:r>
            <a:r>
              <a:rPr lang="de-CH" dirty="0" err="1"/>
              <a:t>since</a:t>
            </a:r>
            <a:r>
              <a:rPr lang="de-CH" dirty="0"/>
              <a:t> </a:t>
            </a:r>
            <a:r>
              <a:rPr lang="de-CH" dirty="0" err="1"/>
              <a:t>energy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proportional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squared</a:t>
            </a:r>
            <a:r>
              <a:rPr lang="de-CH" dirty="0"/>
              <a:t> </a:t>
            </a:r>
            <a:r>
              <a:rPr lang="de-CH" dirty="0" err="1"/>
              <a:t>displacement</a:t>
            </a:r>
            <a:r>
              <a:rPr lang="de-CH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816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93343D1F-3692-90D2-C4D2-190617F9D0E2}"/>
              </a:ext>
            </a:extLst>
          </p:cNvPr>
          <p:cNvGrpSpPr/>
          <p:nvPr/>
        </p:nvGrpSpPr>
        <p:grpSpPr>
          <a:xfrm>
            <a:off x="673100" y="994475"/>
            <a:ext cx="8064500" cy="5159232"/>
            <a:chOff x="6096000" y="2024849"/>
            <a:chExt cx="5619750" cy="359521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81E9695-C612-0BC7-03AC-925AC997D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3160"/>
            <a:stretch>
              <a:fillRect/>
            </a:stretch>
          </p:blipFill>
          <p:spPr>
            <a:xfrm>
              <a:off x="6096000" y="2024849"/>
              <a:ext cx="5619750" cy="322588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2592EBE-2AC8-0162-DF90-F96B257B3462}"/>
                </a:ext>
              </a:extLst>
            </p:cNvPr>
            <p:cNvSpPr txBox="1"/>
            <p:nvPr/>
          </p:nvSpPr>
          <p:spPr>
            <a:xfrm>
              <a:off x="7380630" y="5250730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dirty="0"/>
                <a:t>G</a:t>
              </a:r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BDEEAB6-8699-6B31-6FD7-76CCEAD74C78}"/>
                </a:ext>
              </a:extLst>
            </p:cNvPr>
            <p:cNvSpPr txBox="1"/>
            <p:nvPr/>
          </p:nvSpPr>
          <p:spPr>
            <a:xfrm>
              <a:off x="6759117" y="525073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dirty="0"/>
                <a:t>X</a:t>
              </a:r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338AF4C-D38D-91CA-EFE6-13B0CB6B8AEA}"/>
                </a:ext>
              </a:extLst>
            </p:cNvPr>
            <p:cNvSpPr txBox="1"/>
            <p:nvPr/>
          </p:nvSpPr>
          <p:spPr>
            <a:xfrm>
              <a:off x="8283986" y="5250730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dirty="0"/>
                <a:t>M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1A2FEB9-D23B-C343-C87C-D5198B15FE92}"/>
                </a:ext>
              </a:extLst>
            </p:cNvPr>
            <p:cNvSpPr txBox="1"/>
            <p:nvPr/>
          </p:nvSpPr>
          <p:spPr>
            <a:xfrm>
              <a:off x="8915400" y="5250730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dirty="0"/>
                <a:t>R</a:t>
              </a:r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5C52C84-1149-9A04-0788-BE1F480960BF}"/>
                </a:ext>
              </a:extLst>
            </p:cNvPr>
            <p:cNvSpPr txBox="1"/>
            <p:nvPr/>
          </p:nvSpPr>
          <p:spPr>
            <a:xfrm>
              <a:off x="10006583" y="5250730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dirty="0"/>
                <a:t>G</a:t>
              </a:r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6D54E64-EFFD-D529-01DB-8BD8E260A56A}"/>
                </a:ext>
              </a:extLst>
            </p:cNvPr>
            <p:cNvSpPr txBox="1"/>
            <p:nvPr/>
          </p:nvSpPr>
          <p:spPr>
            <a:xfrm>
              <a:off x="10643730" y="525073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dirty="0"/>
                <a:t>X</a:t>
              </a:r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1417137-CEEA-0043-B2D2-CD3B89E9AE4B}"/>
                </a:ext>
              </a:extLst>
            </p:cNvPr>
            <p:cNvSpPr txBox="1"/>
            <p:nvPr/>
          </p:nvSpPr>
          <p:spPr>
            <a:xfrm>
              <a:off x="11252674" y="5250730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dirty="0"/>
                <a:t>M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4088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CB2A5B-26F5-02CA-2235-2121DA5F327A}"/>
              </a:ext>
            </a:extLst>
          </p:cNvPr>
          <p:cNvSpPr txBox="1"/>
          <p:nvPr/>
        </p:nvSpPr>
        <p:spPr>
          <a:xfrm>
            <a:off x="520700" y="723900"/>
            <a:ext cx="2178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Vineyard </a:t>
            </a:r>
            <a:r>
              <a:rPr lang="de-CH" dirty="0" err="1"/>
              <a:t>formalism</a:t>
            </a:r>
            <a:r>
              <a:rPr lang="de-CH" dirty="0"/>
              <a:t>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505D5-0829-4B8B-5A3C-01D33061D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739" y="0"/>
            <a:ext cx="4340312" cy="3791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9F18A8-17C9-8E6C-796B-1556D35CA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797" y="792700"/>
            <a:ext cx="2967675" cy="972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BCE45B-C315-5134-665B-EAF6A5606B9E}"/>
              </a:ext>
            </a:extLst>
          </p:cNvPr>
          <p:cNvSpPr txBox="1"/>
          <p:nvPr/>
        </p:nvSpPr>
        <p:spPr>
          <a:xfrm>
            <a:off x="520700" y="2080616"/>
            <a:ext cx="62357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The </a:t>
            </a:r>
            <a:r>
              <a:rPr lang="de-CH" dirty="0" err="1"/>
              <a:t>calculations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based</a:t>
            </a:r>
            <a:r>
              <a:rPr lang="de-CH" dirty="0"/>
              <a:t> on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taylor</a:t>
            </a:r>
            <a:r>
              <a:rPr lang="de-CH" dirty="0"/>
              <a:t> </a:t>
            </a:r>
            <a:r>
              <a:rPr lang="de-CH" dirty="0" err="1"/>
              <a:t>expansions</a:t>
            </a:r>
            <a:r>
              <a:rPr lang="de-CH" dirty="0"/>
              <a:t> </a:t>
            </a:r>
            <a:r>
              <a:rPr lang="de-CH" dirty="0" err="1"/>
              <a:t>around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equilibruim</a:t>
            </a:r>
            <a:r>
              <a:rPr lang="de-CH" dirty="0"/>
              <a:t> and </a:t>
            </a:r>
            <a:r>
              <a:rPr lang="de-CH" dirty="0" err="1"/>
              <a:t>saddle</a:t>
            </a:r>
            <a:r>
              <a:rPr lang="de-CH" dirty="0"/>
              <a:t> </a:t>
            </a:r>
            <a:r>
              <a:rPr lang="de-CH" dirty="0" err="1"/>
              <a:t>point</a:t>
            </a:r>
            <a:r>
              <a:rPr lang="de-CH" dirty="0"/>
              <a:t>, </a:t>
            </a:r>
            <a:r>
              <a:rPr lang="de-CH" dirty="0" err="1"/>
              <a:t>according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theory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small</a:t>
            </a:r>
            <a:r>
              <a:rPr lang="de-CH" dirty="0"/>
              <a:t> </a:t>
            </a:r>
            <a:r>
              <a:rPr lang="de-CH" dirty="0" err="1"/>
              <a:t>vibrations</a:t>
            </a:r>
            <a:r>
              <a:rPr lang="de-CH" dirty="0"/>
              <a:t>.</a:t>
            </a:r>
          </a:p>
          <a:p>
            <a:r>
              <a:rPr lang="de-CH" dirty="0"/>
              <a:t>IMO,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leads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significantly</a:t>
            </a:r>
            <a:r>
              <a:rPr lang="de-CH" dirty="0"/>
              <a:t> </a:t>
            </a:r>
            <a:r>
              <a:rPr lang="de-CH" dirty="0" err="1"/>
              <a:t>underestimated</a:t>
            </a:r>
            <a:r>
              <a:rPr lang="de-CH" dirty="0"/>
              <a:t> </a:t>
            </a:r>
            <a:r>
              <a:rPr lang="de-CH" dirty="0" err="1"/>
              <a:t>partition</a:t>
            </a:r>
            <a:r>
              <a:rPr lang="de-CH" dirty="0"/>
              <a:t> </a:t>
            </a:r>
            <a:r>
              <a:rPr lang="de-CH" dirty="0" err="1"/>
              <a:t>function</a:t>
            </a:r>
            <a:r>
              <a:rPr lang="de-CH" dirty="0"/>
              <a:t> </a:t>
            </a:r>
            <a:r>
              <a:rPr lang="de-CH" dirty="0" err="1"/>
              <a:t>around</a:t>
            </a:r>
            <a:r>
              <a:rPr lang="de-CH" dirty="0"/>
              <a:t> </a:t>
            </a:r>
            <a:r>
              <a:rPr lang="de-CH" dirty="0" err="1"/>
              <a:t>equilibrium</a:t>
            </a:r>
            <a:r>
              <a:rPr lang="de-CH" dirty="0"/>
              <a:t> due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anharmonicity</a:t>
            </a:r>
            <a:r>
              <a:rPr lang="de-CH" dirty="0"/>
              <a:t>: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isolines</a:t>
            </a:r>
            <a:r>
              <a:rPr lang="de-CH" dirty="0"/>
              <a:t> in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figure</a:t>
            </a:r>
            <a:r>
              <a:rPr lang="de-CH" dirty="0"/>
              <a:t> </a:t>
            </a:r>
            <a:r>
              <a:rPr lang="de-CH" dirty="0" err="1"/>
              <a:t>would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ellipses</a:t>
            </a:r>
            <a:r>
              <a:rPr lang="de-CH" dirty="0"/>
              <a:t> in </a:t>
            </a:r>
            <a:r>
              <a:rPr lang="de-CH" dirty="0" err="1"/>
              <a:t>harmonic</a:t>
            </a:r>
            <a:r>
              <a:rPr lang="de-CH" dirty="0"/>
              <a:t> </a:t>
            </a:r>
            <a:r>
              <a:rPr lang="de-CH" dirty="0" err="1"/>
              <a:t>approx</a:t>
            </a:r>
            <a:r>
              <a:rPr lang="de-CH" dirty="0"/>
              <a:t>, but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stretched</a:t>
            </a:r>
            <a:r>
              <a:rPr lang="de-CH" dirty="0"/>
              <a:t> </a:t>
            </a:r>
            <a:r>
              <a:rPr lang="de-CH" dirty="0" err="1"/>
              <a:t>towards</a:t>
            </a:r>
            <a:r>
              <a:rPr lang="de-CH" dirty="0"/>
              <a:t> </a:t>
            </a:r>
            <a:r>
              <a:rPr lang="de-CH" dirty="0" err="1"/>
              <a:t>saddle</a:t>
            </a:r>
            <a:r>
              <a:rPr lang="de-CH" dirty="0"/>
              <a:t> </a:t>
            </a:r>
            <a:r>
              <a:rPr lang="de-CH" dirty="0" err="1"/>
              <a:t>point</a:t>
            </a:r>
            <a:r>
              <a:rPr lang="de-CH" dirty="0"/>
              <a:t>. </a:t>
            </a:r>
            <a:r>
              <a:rPr lang="de-CH" dirty="0" err="1"/>
              <a:t>Therefore</a:t>
            </a:r>
            <a:r>
              <a:rPr lang="de-CH" dirty="0"/>
              <a:t>, </a:t>
            </a:r>
            <a:r>
              <a:rPr lang="de-CH" dirty="0" err="1"/>
              <a:t>they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anharmonic</a:t>
            </a:r>
            <a:r>
              <a:rPr lang="de-CH" dirty="0"/>
              <a:t> and </a:t>
            </a:r>
            <a:r>
              <a:rPr lang="de-CH" dirty="0" err="1"/>
              <a:t>are</a:t>
            </a:r>
            <a:r>
              <a:rPr lang="de-CH" dirty="0"/>
              <a:t> larger, </a:t>
            </a:r>
            <a:r>
              <a:rPr lang="de-CH" dirty="0" err="1"/>
              <a:t>meaning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denominator</a:t>
            </a:r>
            <a:r>
              <a:rPr lang="de-CH" dirty="0"/>
              <a:t> in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formula</a:t>
            </a:r>
            <a:r>
              <a:rPr lang="de-CH" dirty="0"/>
              <a:t> </a:t>
            </a:r>
            <a:r>
              <a:rPr lang="de-CH" dirty="0" err="1"/>
              <a:t>above</a:t>
            </a:r>
            <a:r>
              <a:rPr lang="de-CH" dirty="0"/>
              <a:t> </a:t>
            </a:r>
            <a:r>
              <a:rPr lang="de-CH" dirty="0" err="1"/>
              <a:t>should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larger, and total </a:t>
            </a:r>
            <a:r>
              <a:rPr lang="ru-RU" dirty="0"/>
              <a:t>Г </a:t>
            </a:r>
            <a:r>
              <a:rPr lang="en-US" dirty="0"/>
              <a:t>smaller. Hence, the traditional Vine</a:t>
            </a:r>
            <a:r>
              <a:rPr lang="de-CH" dirty="0" err="1"/>
              <a:t>yard</a:t>
            </a:r>
            <a:r>
              <a:rPr lang="de-CH" dirty="0"/>
              <a:t> </a:t>
            </a:r>
            <a:r>
              <a:rPr lang="de-CH" dirty="0" err="1"/>
              <a:t>formula</a:t>
            </a:r>
            <a:r>
              <a:rPr lang="de-CH" dirty="0"/>
              <a:t> </a:t>
            </a:r>
            <a:r>
              <a:rPr lang="de-CH" dirty="0" err="1"/>
              <a:t>overestimates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barrier</a:t>
            </a:r>
            <a:r>
              <a:rPr lang="de-CH" dirty="0"/>
              <a:t>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70AF6E-5C22-99E6-C685-9332D6A77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8797" y="227978"/>
            <a:ext cx="1752845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090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0C11F-FA3B-CC57-72B9-64956F071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FEEDE4C-6AE3-A7CA-8053-2640FDF82FCF}"/>
              </a:ext>
            </a:extLst>
          </p:cNvPr>
          <p:cNvGrpSpPr/>
          <p:nvPr/>
        </p:nvGrpSpPr>
        <p:grpSpPr>
          <a:xfrm>
            <a:off x="0" y="1293138"/>
            <a:ext cx="6096000" cy="3880407"/>
            <a:chOff x="6096000" y="2024849"/>
            <a:chExt cx="5619750" cy="359521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3C28FEE-4865-8B2B-A476-6CB10E3BB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3160"/>
            <a:stretch>
              <a:fillRect/>
            </a:stretch>
          </p:blipFill>
          <p:spPr>
            <a:xfrm>
              <a:off x="6096000" y="2024849"/>
              <a:ext cx="5619750" cy="322588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65FF709-4983-C33A-10D6-2DDE5F2F2E60}"/>
                </a:ext>
              </a:extLst>
            </p:cNvPr>
            <p:cNvSpPr txBox="1"/>
            <p:nvPr/>
          </p:nvSpPr>
          <p:spPr>
            <a:xfrm>
              <a:off x="7380630" y="5250730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dirty="0"/>
                <a:t>G</a:t>
              </a:r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66D3D7-B4C8-0134-CF3C-CB3D1DD1771F}"/>
                </a:ext>
              </a:extLst>
            </p:cNvPr>
            <p:cNvSpPr txBox="1"/>
            <p:nvPr/>
          </p:nvSpPr>
          <p:spPr>
            <a:xfrm>
              <a:off x="6759117" y="525073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dirty="0"/>
                <a:t>X</a:t>
              </a:r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5C8A77-1616-246A-9BF6-BB5670C885C6}"/>
                </a:ext>
              </a:extLst>
            </p:cNvPr>
            <p:cNvSpPr txBox="1"/>
            <p:nvPr/>
          </p:nvSpPr>
          <p:spPr>
            <a:xfrm>
              <a:off x="8283986" y="5250730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dirty="0"/>
                <a:t>M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6943CDA-86E6-0FE8-08DC-CA5D44458352}"/>
                </a:ext>
              </a:extLst>
            </p:cNvPr>
            <p:cNvSpPr txBox="1"/>
            <p:nvPr/>
          </p:nvSpPr>
          <p:spPr>
            <a:xfrm>
              <a:off x="8915400" y="5250730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dirty="0"/>
                <a:t>R</a:t>
              </a:r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9959D2-7229-B73A-61E3-B4BBB58C1917}"/>
                </a:ext>
              </a:extLst>
            </p:cNvPr>
            <p:cNvSpPr txBox="1"/>
            <p:nvPr/>
          </p:nvSpPr>
          <p:spPr>
            <a:xfrm>
              <a:off x="10006583" y="5250730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dirty="0"/>
                <a:t>G</a:t>
              </a:r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A7E369-A953-4556-29FD-4497F61382BB}"/>
                </a:ext>
              </a:extLst>
            </p:cNvPr>
            <p:cNvSpPr txBox="1"/>
            <p:nvPr/>
          </p:nvSpPr>
          <p:spPr>
            <a:xfrm>
              <a:off x="10643730" y="525073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dirty="0"/>
                <a:t>X</a:t>
              </a:r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F656BD0-C6CF-822A-121C-D70402216677}"/>
                </a:ext>
              </a:extLst>
            </p:cNvPr>
            <p:cNvSpPr txBox="1"/>
            <p:nvPr/>
          </p:nvSpPr>
          <p:spPr>
            <a:xfrm>
              <a:off x="11252674" y="5250730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dirty="0"/>
                <a:t>M</a:t>
              </a:r>
              <a:endParaRPr lang="en-US" dirty="0"/>
            </a:p>
          </p:txBody>
        </p:sp>
      </p:grpSp>
      <p:pic>
        <p:nvPicPr>
          <p:cNvPr id="19" name="Grafik 5">
            <a:extLst>
              <a:ext uri="{FF2B5EF4-FFF2-40B4-BE49-F238E27FC236}">
                <a16:creationId xmlns:a16="http://schemas.microsoft.com/office/drawing/2014/main" id="{523EF243-D5E4-47F3-2E95-0AAFE9DEB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035" b="56222"/>
          <a:stretch>
            <a:fillRect/>
          </a:stretch>
        </p:blipFill>
        <p:spPr bwMode="auto">
          <a:xfrm>
            <a:off x="6096000" y="1169570"/>
            <a:ext cx="5826587" cy="37289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9886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Empa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Rulev, Alexey</dc:creator>
  <cp:lastModifiedBy>Rulev, Alexey</cp:lastModifiedBy>
  <cp:revision>4</cp:revision>
  <dcterms:created xsi:type="dcterms:W3CDTF">2025-09-24T09:55:54Z</dcterms:created>
  <dcterms:modified xsi:type="dcterms:W3CDTF">2025-09-28T19:12:25Z</dcterms:modified>
</cp:coreProperties>
</file>